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4630400" cy="8229600"/>
  <p:notesSz cx="8229600" cy="14630400"/>
  <p:embeddedFontLst>
    <p:embeddedFont>
      <p:font typeface="Platypi Medium" pitchFamily="34" charset="0"/>
      <p:regular r:id="rId15"/>
    </p:embeddedFont>
    <p:embeddedFont>
      <p:font typeface="Platypi Medium" pitchFamily="34" charset="-122"/>
      <p:regular r:id="rId16"/>
    </p:embeddedFont>
    <p:embeddedFont>
      <p:font typeface="Platypi Medium" pitchFamily="34" charset="-120"/>
      <p:regular r:id="rId17"/>
    </p:embeddedFont>
    <p:embeddedFont>
      <p:font typeface="Source Serif 4" panose="02040603050405020204" pitchFamily="34" charset="0"/>
      <p:bold r:id="rId18"/>
    </p:embeddedFont>
    <p:embeddedFont>
      <p:font typeface="Source Serif 4" panose="02040603050405020204" pitchFamily="34" charset="-122"/>
      <p:bold r:id="rId19"/>
    </p:embeddedFont>
    <p:embeddedFont>
      <p:font typeface="Source Serif 4" panose="02040603050405020204" pitchFamily="34" charset="-12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37535"/>
            <a:ext cx="13042821" cy="12401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Trees: Unpacking Machine Learning's Intuitive Power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774525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Explore how these elegant algorithms transform complex data into clear, actionable decisions</a:t>
            </a:r>
            <a:endParaRPr lang="en-US" sz="1550" dirty="0"/>
          </a:p>
        </p:txBody>
      </p:sp>
      <p:sp>
        <p:nvSpPr>
          <p:cNvPr id="4" name="Rounded Rectangle 3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9974"/>
            <a:ext cx="5989915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Decision Tree?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16887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 decision tree is a supervised learning algorithm that mimics human decision-making processes, transforming complex datasets into intuitive, visual pathways. Think of it as a digital flowchart that systematically navigates through questions to arrive at predictions.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75209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F9F7F7"/>
          </a:solidFill>
        </p:spPr>
      </p:sp>
      <p:sp>
        <p:nvSpPr>
          <p:cNvPr id="5" name="Text 3"/>
          <p:cNvSpPr/>
          <p:nvPr/>
        </p:nvSpPr>
        <p:spPr>
          <a:xfrm>
            <a:off x="992148" y="377356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 Structure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202787"/>
            <a:ext cx="3818573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Starts at a root node and branches outward like a tree, creating clear pathways to outcomes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575209"/>
            <a:ext cx="4215408" cy="1778556"/>
          </a:xfrm>
          <a:prstGeom prst="roundRect">
            <a:avLst>
              <a:gd name="adj" fmla="val 1674"/>
            </a:avLst>
          </a:prstGeom>
          <a:solidFill>
            <a:srgbClr val="F9F7F7"/>
          </a:solidFill>
        </p:spPr>
      </p:sp>
      <p:sp>
        <p:nvSpPr>
          <p:cNvPr id="8" name="Text 6"/>
          <p:cNvSpPr/>
          <p:nvPr/>
        </p:nvSpPr>
        <p:spPr>
          <a:xfrm>
            <a:off x="5405795" y="3773567"/>
            <a:ext cx="2484596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Classification Power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05795" y="4202787"/>
            <a:ext cx="3818692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Predicts categories by sorting data through logical conditions and thresholds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575209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F9F7F7"/>
          </a:solidFill>
        </p:spPr>
      </p:sp>
      <p:sp>
        <p:nvSpPr>
          <p:cNvPr id="11" name="Text 9"/>
          <p:cNvSpPr/>
          <p:nvPr/>
        </p:nvSpPr>
        <p:spPr>
          <a:xfrm>
            <a:off x="9819561" y="3773567"/>
            <a:ext cx="263663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Regression Capability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9561" y="4202787"/>
            <a:ext cx="3818573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Also predicts numerical values by averaging target values at terminal nodes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577007"/>
            <a:ext cx="130428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These versatile algorithms excel at both classification tasks (predicting categories like "spam" or "not spam") and regression problems (predicting continuous values like house prices). Their tree-like structure makes them among the most interpretable machine learning models available.</a:t>
            </a:r>
            <a:endParaRPr lang="en-US" sz="1550" dirty="0"/>
          </a:p>
        </p:txBody>
      </p:sp>
      <p:sp>
        <p:nvSpPr>
          <p:cNvPr id="14" name="Rounded Rectangle 13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8112"/>
            <a:ext cx="7790378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Anatomy of a Decision Tree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05025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Understanding the components of a decision tree helps demystify how these algorithms make predictions. Each element plays a specific role in the decision-making process.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63347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277672"/>
            <a:ext cx="6422231" cy="22860"/>
          </a:xfrm>
          <a:prstGeom prst="rect">
            <a:avLst/>
          </a:prstGeom>
          <a:solidFill>
            <a:srgbClr val="3E2513"/>
          </a:solidFill>
        </p:spPr>
      </p:sp>
      <p:sp>
        <p:nvSpPr>
          <p:cNvPr id="6" name="Text 4"/>
          <p:cNvSpPr/>
          <p:nvPr/>
        </p:nvSpPr>
        <p:spPr>
          <a:xfrm>
            <a:off x="793790" y="3422571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Root Node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3851791"/>
            <a:ext cx="642223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 starting point that represents the entire dataset. The tree begins its journey here, evaluating the most important feature to split 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4379" y="2963347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277672"/>
            <a:ext cx="6422231" cy="22860"/>
          </a:xfrm>
          <a:prstGeom prst="rect">
            <a:avLst/>
          </a:prstGeom>
          <a:solidFill>
            <a:srgbClr val="3E2513"/>
          </a:solidFill>
        </p:spPr>
      </p:sp>
      <p:sp>
        <p:nvSpPr>
          <p:cNvPr id="10" name="Text 8"/>
          <p:cNvSpPr/>
          <p:nvPr/>
        </p:nvSpPr>
        <p:spPr>
          <a:xfrm>
            <a:off x="7414379" y="3422571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Branches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4379" y="3851791"/>
            <a:ext cx="642223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Lines representing potential answers or conditions. Each branch corresponds to a specific value or range that moves the algorithm toward a decision.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151596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465921"/>
            <a:ext cx="6422231" cy="22860"/>
          </a:xfrm>
          <a:prstGeom prst="rect">
            <a:avLst/>
          </a:prstGeom>
          <a:solidFill>
            <a:srgbClr val="3E2513"/>
          </a:solidFill>
        </p:spPr>
      </p:sp>
      <p:sp>
        <p:nvSpPr>
          <p:cNvPr id="14" name="Text 12"/>
          <p:cNvSpPr/>
          <p:nvPr/>
        </p:nvSpPr>
        <p:spPr>
          <a:xfrm>
            <a:off x="793790" y="5610820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Nodes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3790" y="6040041"/>
            <a:ext cx="642223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Internal points where further questions are asked. These nodes continue splitting the data based on additional features until reaching a conclusion.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4379" y="5151596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5465921"/>
            <a:ext cx="6422231" cy="22860"/>
          </a:xfrm>
          <a:prstGeom prst="rect">
            <a:avLst/>
          </a:prstGeom>
          <a:solidFill>
            <a:srgbClr val="3E2513"/>
          </a:solidFill>
        </p:spPr>
      </p:sp>
      <p:sp>
        <p:nvSpPr>
          <p:cNvPr id="18" name="Text 16"/>
          <p:cNvSpPr/>
          <p:nvPr/>
        </p:nvSpPr>
        <p:spPr>
          <a:xfrm>
            <a:off x="7414379" y="5610820"/>
            <a:ext cx="251983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Leaf/Terminal Nodes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4379" y="6040041"/>
            <a:ext cx="642223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 final outcome or prediction. Once the algorithm reaches these endpoints, no further splits occur, and the prediction is made.</a:t>
            </a:r>
            <a:endParaRPr lang="en-US" sz="1550" dirty="0"/>
          </a:p>
        </p:txBody>
      </p:sp>
      <p:sp>
        <p:nvSpPr>
          <p:cNvPr id="20" name="Rounded Rectangle 19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1654"/>
            <a:ext cx="13042821" cy="12401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Decision Trees Learn: The Power of "If-Then-Else"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87823"/>
            <a:ext cx="3335298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Through Splitting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96339"/>
            <a:ext cx="6279356" cy="12701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Decision trees learn by recursively partitioning data based on feature conditions. At each node, the algorithm identifies the optimal feature and threshold that best separates the data into homogeneous subsets.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545092"/>
            <a:ext cx="6279356" cy="12701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 goal is to maximize information gain or minimize impurity at each split, creating increasingly pure groups. This process continues until reaching a stopping criterion like maximum depth or minimum samples per leaf.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587823"/>
            <a:ext cx="2589014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Algorithm: CART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096339"/>
            <a:ext cx="6279356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Classification and Regression Trees (CART) is the most common algorithm for building decision trees. It uses metrics like Gini impurity or entropy to evaluate split quality.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227552"/>
            <a:ext cx="6279356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E2513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Critical advantage:</a:t>
            </a: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Unlike distance-based algorithms such as k-NN or SVM, decision trees do not require feature scaling because they use threshold comparisons rather than distance calculations.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6217087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EDD5C4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512362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6464975"/>
            <a:ext cx="12199739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Technical Note:</a:t>
            </a:r>
            <a:r>
              <a:rPr lang="en-US" sz="1550" dirty="0">
                <a:solidFill>
                  <a:srgbClr val="000000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 The scikit-learn implementation of decision trees requires all features to be numeric, though the underlying concept works with categorical data through encoding strategies.</a:t>
            </a:r>
            <a:endParaRPr lang="en-US" sz="1550" dirty="0"/>
          </a:p>
        </p:txBody>
      </p:sp>
      <p:sp>
        <p:nvSpPr>
          <p:cNvPr id="12" name="Rounded Rectangle 11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3117"/>
            <a:ext cx="11056858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Choose Decision Trees? The Advantages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140029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84170"/>
            <a:ext cx="3222427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Intuitive and Interpretable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313390"/>
            <a:ext cx="6397347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Act as "white box" models where the decision logic is transparent and easy to follow. Stakeholders can trace exactly how predictions are made, unlike opaque "black box" models.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140029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2884170"/>
            <a:ext cx="3164562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Minimal Data Preparation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39144" y="3313390"/>
            <a:ext cx="6397466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Generally requires less preprocessing compared to other algorithms. No need for normalization, standardization, or handling missing values through complex imputation methods.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662845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406985"/>
            <a:ext cx="2599134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Handles Diverse Data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93790" y="5836206"/>
            <a:ext cx="6397347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Can work with both numerical and categorical data types. While scikit-learn's implementation has limitations, the conceptual framework accommodates mixed data types naturally.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662845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5406985"/>
            <a:ext cx="3195161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Foundation for Ensembles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39144" y="5836206"/>
            <a:ext cx="6397466" cy="12701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Serves as the building block for powerful ensemble methods like Random Forests, Gradient Boosting, XGBoost, and LightGBM. These advanced techniques combine multiple decision trees for superior performance.</a:t>
            </a:r>
            <a:endParaRPr lang="en-US" sz="1550" dirty="0"/>
          </a:p>
        </p:txBody>
      </p:sp>
      <p:sp>
        <p:nvSpPr>
          <p:cNvPr id="15" name="Rounded Rectangle 14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9899" y="440769"/>
            <a:ext cx="4097774" cy="4925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Visualizing Decisions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269" y="1183719"/>
            <a:ext cx="12229743" cy="6011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84597" y="1726944"/>
            <a:ext cx="2796838" cy="349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Is it orange?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84597" y="2175992"/>
            <a:ext cx="5655829" cy="25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Check color if not red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6201" y="1877857"/>
            <a:ext cx="397772" cy="3977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4597" y="3131578"/>
            <a:ext cx="2796838" cy="349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184597" y="3580626"/>
            <a:ext cx="5655829" cy="25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Predict apple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6201" y="3096035"/>
            <a:ext cx="397772" cy="3977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4597" y="4536212"/>
            <a:ext cx="2796838" cy="349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Is it red?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184597" y="4985260"/>
            <a:ext cx="5655829" cy="2507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Check color if round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6201" y="4301783"/>
            <a:ext cx="397772" cy="3977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7028" y="5940847"/>
            <a:ext cx="2796839" cy="349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Is the fruit round?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197028" y="6389895"/>
            <a:ext cx="5655829" cy="250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Start at the root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96201" y="5706418"/>
            <a:ext cx="397772" cy="3977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9899" y="7336393"/>
            <a:ext cx="12430601" cy="452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This simple example illustrates how decision trees make predictions through a series of logical questions. Starting from the root, each decision splits the data based on feature values until reaching a final classification at the leaf nodes.</a:t>
            </a:r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/>
              <a:t>`</a:t>
            </a:r>
            <a:endParaRPr lang="en-I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555784"/>
            <a:ext cx="5830372" cy="6138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Applications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5813" y="1558647"/>
            <a:ext cx="13058775" cy="625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Decision trees power critical decisions across industries, from detecting fraud to diagnosing diseases. Their interpretability makes them particularly valuable when understanding the reasoning behind predictions is essential.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85813" y="2402681"/>
            <a:ext cx="6432113" cy="2538293"/>
          </a:xfrm>
          <a:prstGeom prst="roundRect">
            <a:avLst>
              <a:gd name="adj" fmla="val 1161"/>
            </a:avLst>
          </a:prstGeom>
          <a:solidFill>
            <a:srgbClr val="F9F7F7"/>
          </a:solidFill>
        </p:spPr>
      </p:sp>
      <p:sp>
        <p:nvSpPr>
          <p:cNvPr id="5" name="Shape 3"/>
          <p:cNvSpPr/>
          <p:nvPr/>
        </p:nvSpPr>
        <p:spPr>
          <a:xfrm>
            <a:off x="982266" y="2599134"/>
            <a:ext cx="589359" cy="589359"/>
          </a:xfrm>
          <a:prstGeom prst="roundRect">
            <a:avLst>
              <a:gd name="adj" fmla="val 15513610"/>
            </a:avLst>
          </a:prstGeom>
          <a:solidFill>
            <a:srgbClr val="3E251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310" y="2761178"/>
            <a:ext cx="265152" cy="265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2266" y="3382923"/>
            <a:ext cx="2455902" cy="306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Fraud Detection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82266" y="3806547"/>
            <a:ext cx="6039207" cy="937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Banks and financial institutions use decision trees to identify suspicious transactions by analyzing patterns in spending behavior, location data, and transaction amounts.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2355" y="2402681"/>
            <a:ext cx="6432233" cy="2538293"/>
          </a:xfrm>
          <a:prstGeom prst="roundRect">
            <a:avLst>
              <a:gd name="adj" fmla="val 1161"/>
            </a:avLst>
          </a:prstGeom>
          <a:solidFill>
            <a:srgbClr val="F9F7F7"/>
          </a:solidFill>
        </p:spPr>
      </p:sp>
      <p:sp>
        <p:nvSpPr>
          <p:cNvPr id="10" name="Shape 7"/>
          <p:cNvSpPr/>
          <p:nvPr/>
        </p:nvSpPr>
        <p:spPr>
          <a:xfrm>
            <a:off x="7608808" y="2599134"/>
            <a:ext cx="589359" cy="589359"/>
          </a:xfrm>
          <a:prstGeom prst="roundRect">
            <a:avLst>
              <a:gd name="adj" fmla="val 15513610"/>
            </a:avLst>
          </a:prstGeom>
          <a:solidFill>
            <a:srgbClr val="3E251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0852" y="2761178"/>
            <a:ext cx="265152" cy="2651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8808" y="3382923"/>
            <a:ext cx="2455902" cy="306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Medical Diagnosis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08808" y="3806547"/>
            <a:ext cx="6039326" cy="937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Healthcare professionals leverage decision trees to assist in identifying diseases by systematically evaluating symptoms, test results, and patient history to arrive at diagnoses.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85813" y="5135404"/>
            <a:ext cx="6432113" cy="2538293"/>
          </a:xfrm>
          <a:prstGeom prst="roundRect">
            <a:avLst>
              <a:gd name="adj" fmla="val 1161"/>
            </a:avLst>
          </a:prstGeom>
          <a:solidFill>
            <a:srgbClr val="F9F7F7"/>
          </a:solidFill>
        </p:spPr>
      </p:sp>
      <p:sp>
        <p:nvSpPr>
          <p:cNvPr id="15" name="Shape 11"/>
          <p:cNvSpPr/>
          <p:nvPr/>
        </p:nvSpPr>
        <p:spPr>
          <a:xfrm>
            <a:off x="982266" y="5331857"/>
            <a:ext cx="589359" cy="589359"/>
          </a:xfrm>
          <a:prstGeom prst="roundRect">
            <a:avLst>
              <a:gd name="adj" fmla="val 15513610"/>
            </a:avLst>
          </a:prstGeom>
          <a:solidFill>
            <a:srgbClr val="3E2513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310" y="5493901"/>
            <a:ext cx="265152" cy="2651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266" y="6115645"/>
            <a:ext cx="2951559" cy="306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82266" y="6539270"/>
            <a:ext cx="6039207" cy="937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Marketing teams group customers based on purchasing behavior, demographics, and engagement patterns to create targeted campaigns and personalized experiences.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412355" y="5135404"/>
            <a:ext cx="6432233" cy="2538293"/>
          </a:xfrm>
          <a:prstGeom prst="roundRect">
            <a:avLst>
              <a:gd name="adj" fmla="val 1161"/>
            </a:avLst>
          </a:prstGeom>
          <a:solidFill>
            <a:srgbClr val="F9F7F7"/>
          </a:solidFill>
        </p:spPr>
      </p:sp>
      <p:sp>
        <p:nvSpPr>
          <p:cNvPr id="20" name="Shape 15"/>
          <p:cNvSpPr/>
          <p:nvPr/>
        </p:nvSpPr>
        <p:spPr>
          <a:xfrm>
            <a:off x="7608808" y="5331857"/>
            <a:ext cx="589359" cy="589359"/>
          </a:xfrm>
          <a:prstGeom prst="roundRect">
            <a:avLst>
              <a:gd name="adj" fmla="val 15513610"/>
            </a:avLst>
          </a:prstGeom>
          <a:solidFill>
            <a:srgbClr val="3E251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0852" y="5493901"/>
            <a:ext cx="265152" cy="2651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8808" y="6115645"/>
            <a:ext cx="2822377" cy="306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Maintenance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08808" y="6539270"/>
            <a:ext cx="6039326" cy="937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Manufacturing facilities forecast equipment failures by monitoring sensor data, usage patterns, and maintenance history to prevent costly downtime.</a:t>
            </a:r>
            <a:endParaRPr lang="en-US" sz="1500" dirty="0"/>
          </a:p>
        </p:txBody>
      </p:sp>
      <p:sp>
        <p:nvSpPr>
          <p:cNvPr id="24" name="Rounded Rectangle 23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13039487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Trees: Building Blocks for Smarter Machines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82347"/>
            <a:ext cx="4215289" cy="2776895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803565"/>
            <a:ext cx="2856547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Powerful Yet Accessible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232785"/>
            <a:ext cx="3772853" cy="15876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Decision trees offer an intuitive entry point into machine learning, making complex predictive modeling accessible to beginners while remaining powerful enough for advanced applications.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582347"/>
            <a:ext cx="4215408" cy="2776895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2803565"/>
            <a:ext cx="3772972" cy="620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Cornerstone of Predictive Modeling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542943"/>
            <a:ext cx="3772972" cy="15876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Their interpretability and flexibility make them a cornerstone for many predictive modeling tasks, particularly when stakeholders need to understand the reasoning behind predictions.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582347"/>
            <a:ext cx="4215289" cy="2776895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2803565"/>
            <a:ext cx="3220641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Foundation for Innovation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232785"/>
            <a:ext cx="3772853" cy="19052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As the building block for ensemble methods like Random Forests and Gradient Boosting, decision trees continue to drive innovation in artificial intelligence and machine learning.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91446" y="5805726"/>
            <a:ext cx="12745164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E2513"/>
                </a:solidFill>
                <a:latin typeface="Source Serif 4" panose="02040603050405020204" pitchFamily="34" charset="0"/>
                <a:ea typeface="Source Serif 4" panose="02040603050405020204" pitchFamily="34" charset="-122"/>
                <a:cs typeface="Source Serif 4" panose="02040603050405020204" pitchFamily="34" charset="-120"/>
              </a:rPr>
              <a:t>"The beauty of decision trees lies in their simplicity and transparency—transforming complex data into clear, actionable insights that anyone can understand."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582483"/>
            <a:ext cx="22860" cy="1081564"/>
          </a:xfrm>
          <a:prstGeom prst="rect">
            <a:avLst/>
          </a:prstGeom>
          <a:solidFill>
            <a:srgbClr val="3E2513"/>
          </a:solidFill>
        </p:spPr>
      </p:sp>
      <p:sp>
        <p:nvSpPr>
          <p:cNvPr id="14" name="Rounded Rectangle 13"/>
          <p:cNvSpPr/>
          <p:nvPr/>
        </p:nvSpPr>
        <p:spPr>
          <a:xfrm>
            <a:off x="12863830" y="7753350"/>
            <a:ext cx="1700530" cy="4279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5995</Words>
  <Application>WPS Presentation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SimSun</vt:lpstr>
      <vt:lpstr>Wingdings</vt:lpstr>
      <vt:lpstr>Platypi Medium</vt:lpstr>
      <vt:lpstr>Platypi Medium</vt:lpstr>
      <vt:lpstr>Platypi Medium</vt:lpstr>
      <vt:lpstr>Source Serif 4</vt:lpstr>
      <vt:lpstr>Source Serif 4</vt:lpstr>
      <vt:lpstr>Source Serif 4</vt:lpstr>
      <vt:lpstr>Platypi Light</vt:lpstr>
      <vt:lpstr>AMGDT</vt:lpstr>
      <vt:lpstr>Platypi Light</vt:lpstr>
      <vt:lpstr>Platypi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WPS_1728363547</cp:lastModifiedBy>
  <cp:revision>2</cp:revision>
  <dcterms:created xsi:type="dcterms:W3CDTF">2026-03-17T12:13:00Z</dcterms:created>
  <dcterms:modified xsi:type="dcterms:W3CDTF">2026-03-17T12:15:09Z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5EEC208554594FB7A880FEDF238C6F54_12</vt:lpwstr>
  </property>
  <property fmtid="{D5CDD505-2E9C-101B-9397-08002B2CF9AE}" pid="3" name="KSOProductBuildVer">
    <vt:lpwstr>1033-12.2.0.23196</vt:lpwstr>
  </property>
</Properties>
</file>